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HRMS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AI/ML system combining predictive analytics, skills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recommendation systems, RAG and agentic workflows.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33472" y="4617720"/>
            <a:ext cx="1645920" cy="402336"/>
          </a:xfrm>
          <a:prstGeom prst="roundRect">
            <a:avLst>
              <a:gd name="adj" fmla="val 181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46177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Embeddings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43984" y="4617720"/>
            <a:ext cx="1298448" cy="402336"/>
          </a:xfrm>
          <a:prstGeom prst="roundRect">
            <a:avLst>
              <a:gd name="adj" fmla="val 181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461772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07024" y="4617720"/>
            <a:ext cx="516636" cy="402336"/>
          </a:xfrm>
          <a:prstGeom prst="roundRect">
            <a:avLst>
              <a:gd name="adj" fmla="val 181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4617720"/>
            <a:ext cx="5166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8252" y="4617720"/>
            <a:ext cx="1124712" cy="402336"/>
          </a:xfrm>
          <a:prstGeom prst="roundRect">
            <a:avLst>
              <a:gd name="adj" fmla="val 181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8252" y="4617720"/>
            <a:ext cx="1124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77556" y="4617720"/>
            <a:ext cx="690372" cy="402336"/>
          </a:xfrm>
          <a:prstGeom prst="roundRect">
            <a:avLst>
              <a:gd name="adj" fmla="val 181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7556" y="4617720"/>
            <a:ext cx="6903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 project &amp; technical architecture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Data Is Everywhere — Insight Is Nowhere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organizations spread employee data across HRMS, payroll, recruitment, performance, learning, and survey systems. Because these systems are disconnected, HR teams operate reactively instead of predictively.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120640" cy="3063240"/>
          </a:xfrm>
          <a:prstGeom prst="roundRect">
            <a:avLst>
              <a:gd name="adj" fmla="val 2388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planning stays reactive rather than predictive — decisions are made on instinct, not evidence.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cannot say, with confidence, who is likely to leave, who is ready for promotion, or which skills the business will be short of next year.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490472"/>
            <a:ext cx="329184" cy="329184"/>
          </a:xfrm>
          <a:prstGeom prst="ellipse">
            <a:avLst/>
          </a:prstGeom>
          <a:solidFill>
            <a:srgbClr val="E4EEF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490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43560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employees at risk of attrition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2240280"/>
            <a:ext cx="329184" cy="329184"/>
          </a:xfrm>
          <a:prstGeom prst="ellipse">
            <a:avLst/>
          </a:prstGeom>
          <a:solidFill>
            <a:srgbClr val="E4EEF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85416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subjective performance analysis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990088"/>
            <a:ext cx="329184" cy="329184"/>
          </a:xfrm>
          <a:prstGeom prst="ellipse">
            <a:avLst/>
          </a:prstGeom>
          <a:solidFill>
            <a:srgbClr val="E4EEF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990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935224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organization-wide skill gaps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3739896"/>
            <a:ext cx="329184" cy="329184"/>
          </a:xfrm>
          <a:prstGeom prst="ellipse">
            <a:avLst/>
          </a:prstGeom>
          <a:solidFill>
            <a:srgbClr val="E4EEF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68503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one-size-fits-all training recommendations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4489704"/>
            <a:ext cx="329184" cy="329184"/>
          </a:xfrm>
          <a:prstGeom prst="ellipse">
            <a:avLst/>
          </a:prstGeom>
          <a:solidFill>
            <a:srgbClr val="E4EEF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4489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4348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hire-vs-upskill trade-offs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5239512"/>
            <a:ext cx="329184" cy="329184"/>
          </a:xfrm>
          <a:prstGeom prst="ellipse">
            <a:avLst/>
          </a:prstGeom>
          <a:solidFill>
            <a:srgbClr val="E4EEF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5239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18464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policy knowledge scattered across documents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One Continuous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4EE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agentic HRMS platform that combines traditional ML, NLP, RAG, recommendation systems, and agentic workflows to deliver predictive workforce intelligence and personalized employee development.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 performance risk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3227832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63724" y="2788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3452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5164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5164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&amp; skill gaps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55364" y="3227832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78808" y="2788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70248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70248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mentors, projects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70448" y="3227832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93892" y="2788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3620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5332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85332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trigger workflows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5532" y="3227832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08976" y="2788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8704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0416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00416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outcomes &amp; drift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00616" y="3227832"/>
            <a:ext cx="123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24060" y="27889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3788" y="2880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15500" y="3172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15500" y="3566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&amp; refine models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becomes a continuous, self-improving system — a business decision-support platform, not a one-off HR chatbot.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011680" y="5257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2011680" y="5897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5257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4937760" y="5897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7863840" y="5897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ML/AI engines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Blind Spots to Business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with 20,000 employees plans to expand its AI business over the next 18 months.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HR KNOWS PEOPLE, NOT CAPABILITY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on record — with none of the following answered: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AI skills today?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08736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0873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AI skills?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4714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44714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be reskilled?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8554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48554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leave?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2395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52395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face shortages?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5623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externally, or train internally?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PLATFORM CONVERTS DATA INTO DECISIONS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269748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E4EEF3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69748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role &amp; skill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309981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324612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E4EEF3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24612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32520" y="364845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79476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E4EEF3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79476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419709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434340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E4EEF3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34340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development plans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32520" y="474573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489204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E4EEF3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489204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skill heatmap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32520" y="529437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7960" y="5440680"/>
            <a:ext cx="4754880" cy="420624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544068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vs. reskill recommendation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Individual-Level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ML Engineer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SKILLS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 · Statistics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Deep Learning · MLOps · LLM/RAG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PyTorch course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818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Learning certification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11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AI project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5404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Senior ML Engineer mentor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508760"/>
            <a:ext cx="2240280" cy="82296"/>
          </a:xfrm>
          <a:prstGeom prst="rect">
            <a:avLst/>
          </a:prstGeom>
          <a:solidFill>
            <a:srgbClr val="B3403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7830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0" y="150876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508760"/>
            <a:ext cx="2240280" cy="82296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7830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7269480" y="2606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Today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55480" y="150876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55480" y="1508760"/>
            <a:ext cx="224028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480" y="17830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9692640" y="2606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Readiness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886200"/>
            <a:ext cx="6903720" cy="2286000"/>
          </a:xfrm>
          <a:prstGeom prst="roundRect">
            <a:avLst>
              <a:gd name="adj" fmla="val 3200"/>
            </a:avLst>
          </a:prstGeom>
          <a:solidFill>
            <a:srgbClr val="E4EEF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TRAJECTORY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480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4526280"/>
            <a:ext cx="4572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4526280"/>
            <a:ext cx="2834640" cy="310896"/>
          </a:xfrm>
          <a:prstGeom prst="roundRect">
            <a:avLst>
              <a:gd name="adj" fmla="val 17647"/>
            </a:avLst>
          </a:prstGeom>
          <a:solidFill>
            <a:srgbClr val="C97A2B"/>
          </a:solidFill>
          <a:ln/>
        </p:spPr>
      </p:sp>
      <p:sp>
        <p:nvSpPr>
          <p:cNvPr id="35" name="Text 33"/>
          <p:cNvSpPr/>
          <p:nvPr/>
        </p:nvSpPr>
        <p:spPr>
          <a:xfrm>
            <a:off x="11018520" y="45262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5074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plan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5120640"/>
            <a:ext cx="4572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5120640"/>
            <a:ext cx="4160520" cy="310896"/>
          </a:xfrm>
          <a:prstGeom prst="roundRect">
            <a:avLst>
              <a:gd name="adj" fmla="val 17647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11018520" y="512064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5577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engine uses embeddings + taxonomy, not exact string matching — “PyTorch” and “Deep Learning with PyTorch” are recognized as related.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Organization-Level Decision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2918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AI roles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86200" y="2286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00200"/>
            <a:ext cx="32918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4340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internally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00200"/>
            <a:ext cx="3291840" cy="73152"/>
          </a:xfrm>
          <a:prstGeom prst="rect">
            <a:avLst/>
          </a:prstGeom>
          <a:solidFill>
            <a:srgbClr val="B340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3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skill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then analyzes internal readiness against the shortfall: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89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68680" y="5166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be reskilled internally through targeted learning plans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389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require external hiring to close the remaining gap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business decision-support system — not merely an HR chatbot.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Seven-Layer Platform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1790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API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1517904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managers &amp; employees via React UI + FastAPI gateway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4EEF3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76272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7627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23113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231136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 routes requests to specialized agents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89504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950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443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944368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Policy, Workforce, Upskilling, Career, HR 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0273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4EEF3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02736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0273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3657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3657600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NLP, recommendation, embeddings &amp; forecasting models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15968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159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43708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Retrieval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370832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vector DB, BM25, reranking over HR knowledge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4EEF3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029200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0292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17320" y="50840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5084064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HRMS, payroll, LMS, ATS, performance data, warehouse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7424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742432"/>
            <a:ext cx="640080" cy="658368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7424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417320" y="57972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/ Monitoring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17720" y="5797296"/>
            <a:ext cx="6812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CI/CD, Docker, Kubernetes, drift monitoring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Touches Raw HR Systems Directly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86584" y="150876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386584" y="150876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24528" y="150876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50876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62472" y="150876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062472" y="150876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0416" y="150876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900416" y="150876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738360" y="1508760"/>
            <a:ext cx="1709928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738360" y="1508760"/>
            <a:ext cx="1709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Market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↓  ↓  ↓  ↓  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33472" y="297180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61488" y="274320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7208" y="274320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274320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274320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/ Warehouse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59168" y="297180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87184" y="274320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274320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72016" y="297180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400032" y="274320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5752" y="274320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Platforms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2519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4EEF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4892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resumes &amp; documents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88920" y="42519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4EEF3"/>
          </a:solidFill>
          <a:ln/>
        </p:spPr>
      </p:sp>
      <p:sp>
        <p:nvSpPr>
          <p:cNvPr id="36" name="Text 34"/>
          <p:cNvSpPr/>
          <p:nvPr/>
        </p:nvSpPr>
        <p:spPr>
          <a:xfrm>
            <a:off x="292608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26080" y="4892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transactional analytics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42519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4EEF3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Database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4892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HRMS records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69480" y="42519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4EEF3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06640" y="4892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knowledge &amp; skills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509760" y="42519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E4EEF3"/>
          </a:solidFill>
          <a:ln/>
        </p:spPr>
      </p:sp>
      <p:sp>
        <p:nvSpPr>
          <p:cNvPr id="45" name="Text 43"/>
          <p:cNvSpPr/>
          <p:nvPr/>
        </p:nvSpPr>
        <p:spPr>
          <a:xfrm>
            <a:off x="964692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Store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646920" y="48920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ML features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Models: Attrition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employee leave in the near term?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1444752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3464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9152" y="2834640"/>
            <a:ext cx="1444752" cy="292608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11" name="Text 9"/>
          <p:cNvSpPr/>
          <p:nvPr/>
        </p:nvSpPr>
        <p:spPr>
          <a:xfrm>
            <a:off x="2359152" y="283464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9624" y="2834640"/>
            <a:ext cx="1444752" cy="292608"/>
          </a:xfrm>
          <a:prstGeom prst="rect">
            <a:avLst/>
          </a:prstGeom>
          <a:solidFill>
            <a:srgbClr val="B3403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9624" y="283464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1455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0.0        0.3        0.7        1.0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3913632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FBEEE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0050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risk — driven by: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427939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 internal mobility    ↓ Comp. below benchmark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Reduced engagement       ↓ No promotion in 3 yrs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 · ROC-AUC · PR-AUC · Calibration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54864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sensitive attributes excluded from features; predictions reviewed under HR governance policy.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 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performance improving, stable, or declining?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2816352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4EEF3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8163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15400" y="2816352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4EEF3"/>
          </a:solidFill>
          <a:ln/>
        </p:spPr>
      </p:sp>
      <p:sp>
        <p:nvSpPr>
          <p:cNvPr id="28" name="Text 26"/>
          <p:cNvSpPr/>
          <p:nvPr/>
        </p:nvSpPr>
        <p:spPr>
          <a:xfrm>
            <a:off x="8915400" y="281635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20040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4EEF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200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feedback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15400" y="3200400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4EEF3"/>
          </a:solidFill>
          <a:ln/>
        </p:spPr>
      </p:sp>
      <p:sp>
        <p:nvSpPr>
          <p:cNvPr id="32" name="Text 30"/>
          <p:cNvSpPr/>
          <p:nvPr/>
        </p:nvSpPr>
        <p:spPr>
          <a:xfrm>
            <a:off x="8915400" y="3200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activity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37960" y="358444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4EEF3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358444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915400" y="358444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E4EEF3"/>
          </a:solidFill>
          <a:ln/>
        </p:spPr>
      </p:sp>
      <p:sp>
        <p:nvSpPr>
          <p:cNvPr id="36" name="Text 34"/>
          <p:cNvSpPr/>
          <p:nvPr/>
        </p:nvSpPr>
        <p:spPr>
          <a:xfrm>
            <a:off x="8915400" y="358444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OUTPUT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37960" y="45720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6268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53796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38160" y="45720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46268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13816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738360" y="45720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B340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38360" y="46268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73836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37960" y="5623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Approaches: classification · regression · time-series models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 runs on a taxonomy + embeddings + semantic similarity, not exact string matching.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SKILLS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E4EE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E4EEF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E4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E4EEF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 REQUIREMENTS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2560320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E4F1E8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5603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2962656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E4F1E8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96265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03920" y="3364992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E4F1E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33649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Machine Learning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0" y="3767328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FBEEE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37673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PyTorch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0" y="4169664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FBEEE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1696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Deep Learning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0" y="4572000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FBEEE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57200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Docker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03920" y="4974336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FBEEE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97433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Kubernetes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03920" y="5376672"/>
            <a:ext cx="2834640" cy="329184"/>
          </a:xfrm>
          <a:prstGeom prst="roundRect">
            <a:avLst>
              <a:gd name="adj" fmla="val 13889"/>
            </a:avLst>
          </a:prstGeom>
          <a:solidFill>
            <a:srgbClr val="FBEEEC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53766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RAG / LLMs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60520" y="2743200"/>
            <a:ext cx="3840480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ENGINE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3484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+ Embeddings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Semantic Similarity + Rules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00100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160520" y="43434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E4EEF3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4343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= 5 / 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160520" y="4800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matched · 5 missing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53492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“PyTorch” and “Deep Learning with PyTorch” are recognized as related skills, not treated as a mismatch.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Upskilling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33472" y="192024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70632" y="1600200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60020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55464" y="192024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92624" y="1600200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8344" y="160020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77456" y="192024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14616" y="1600200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0336" y="160020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99448" y="192024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36608" y="1600200"/>
            <a:ext cx="2084832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82328" y="1600200"/>
            <a:ext cx="1993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461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skill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77440" y="324612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0" y="32461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324612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324612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576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history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0" y="365760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36576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difficulty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65760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36576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duration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069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preference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77440" y="406908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4069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goal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06240" y="4069080"/>
            <a:ext cx="1691640" cy="329184"/>
          </a:xfrm>
          <a:prstGeom prst="roundRect">
            <a:avLst>
              <a:gd name="adj" fmla="val 13889"/>
            </a:avLst>
          </a:prstGeom>
          <a:solidFill>
            <a:srgbClr val="E4EEF3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0" y="40690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quality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288036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3090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— TARGET: ML ENGINEER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20840" y="349300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3493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05472" y="3493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1: Deep Learning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720840" y="393192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3931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05472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2: PyTorch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720840" y="437083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6720840" y="4370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05472" y="4370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3: MLOps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4892040"/>
            <a:ext cx="4572000" cy="0"/>
          </a:xfrm>
          <a:prstGeom prst="line">
            <a:avLst/>
          </a:prstGeom>
          <a:noFill/>
          <a:ln w="12700">
            <a:solidFill>
              <a:srgbClr val="3E5A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5010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720840" y="5321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A · Course B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0840" y="5641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Project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20840" y="5961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Mentor X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 Simulation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66160" y="1600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Data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41080" y="1856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286000" cy="9144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600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DATA ANALYST → DATA SCIENTIST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33467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3403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3467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0" y="3849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C97A2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84962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43200" y="43525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340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43525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43200" y="485546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485546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246120"/>
            <a:ext cx="2834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E4EE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4747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489204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Readiness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after learning path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09560" y="3246120"/>
            <a:ext cx="2834640" cy="214884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7909560" y="34747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790956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Readiness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90956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recommended learning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352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= f(skill gap, priority weighting, learning velocity). Recalculated continuously as new activity is logged.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Skill Heatmap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02336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233172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15087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1508760"/>
            <a:ext cx="233172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5087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35440" y="1508760"/>
            <a:ext cx="2331720" cy="502920"/>
          </a:xfrm>
          <a:prstGeom prst="rect">
            <a:avLst/>
          </a:prstGeom>
          <a:solidFill>
            <a:srgbClr val="21295C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15087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4023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116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2011680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01168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2011680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01168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01168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402336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420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2542032"/>
            <a:ext cx="233172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54203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03720" y="2542032"/>
            <a:ext cx="233172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4203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35440" y="2542032"/>
            <a:ext cx="233172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54203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072384"/>
            <a:ext cx="4023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07238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0" y="3072384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07238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903720" y="3072384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07238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235440" y="3072384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307238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602736"/>
            <a:ext cx="402336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60273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0" y="3602736"/>
            <a:ext cx="233172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60273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903720" y="3602736"/>
            <a:ext cx="233172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60273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235440" y="3602736"/>
            <a:ext cx="233172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60273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133088"/>
            <a:ext cx="4023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1330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72000" y="4133088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13308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903720" y="4133088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413308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235440" y="4133088"/>
            <a:ext cx="23317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2600" y="413308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Cost of Training → Cost of Hiring → Internal Talent Availability → Recommendation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 Reskill 120 employees  +  Externally hire 90 employees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for HR Policy &amp; Knowledge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4EE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the company’s parental leave policy?”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146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28346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25146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25146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87952" y="28346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25146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25146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9904" y="28346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4496" y="25146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5146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91856" y="28346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6448" y="25146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25146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93808" y="28346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0" y="251460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51460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296619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43400"/>
            <a:ext cx="12966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991563" y="4343400"/>
            <a:ext cx="1055218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1563" y="4343400"/>
            <a:ext cx="10552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93085" y="4343400"/>
            <a:ext cx="1538021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93085" y="4343400"/>
            <a:ext cx="153802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Policies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77410" y="4343400"/>
            <a:ext cx="1698955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7410" y="4343400"/>
            <a:ext cx="16989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Policies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2669" y="4343400"/>
            <a:ext cx="1940357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2669" y="4343400"/>
            <a:ext cx="194035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Guidelines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09330" y="4343400"/>
            <a:ext cx="1618488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09330" y="4343400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Policies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698955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846320"/>
            <a:ext cx="16989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Handbook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5321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handles knowledge retrieval only — it never predicts attrition, calculates skill gaps, or takes automated action. Those stay with the dedicated ML engines and governed agent tools.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&amp; Tool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150876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5087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(LangGraph)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" y="269748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16736" y="2377440"/>
            <a:ext cx="0" cy="320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269748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2377440"/>
            <a:ext cx="0" cy="320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269748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2377440"/>
            <a:ext cx="0" cy="320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269748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50024" y="2377440"/>
            <a:ext cx="0" cy="320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69748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0" y="2377440"/>
            <a:ext cx="0" cy="320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3536" y="2697480"/>
            <a:ext cx="17373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9256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872216" y="2377440"/>
            <a:ext cx="0" cy="3200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2377440"/>
            <a:ext cx="960120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286000"/>
            <a:ext cx="0" cy="9144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 CALL SEQUENCE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4178808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4EEF3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178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get_employee_profile()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4897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4507992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4EEF3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507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get_skills()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8188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" y="4837176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4EEF3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8371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get_role_requirements()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1480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" y="5166360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4EEF3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166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calculate_skill_gap()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547725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8680" y="5495544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4EEF3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495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recommend_courses()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8680" y="5824728"/>
            <a:ext cx="3291840" cy="274320"/>
          </a:xfrm>
          <a:prstGeom prst="roundRect">
            <a:avLst>
              <a:gd name="adj" fmla="val 13333"/>
            </a:avLst>
          </a:prstGeom>
          <a:solidFill>
            <a:srgbClr val="E4EEF3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5824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generate_learning_plan()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0" y="3794760"/>
            <a:ext cx="7040880" cy="2423160"/>
          </a:xfrm>
          <a:prstGeom prst="roundRect">
            <a:avLst>
              <a:gd name="adj" fmla="val 3019"/>
            </a:avLst>
          </a:prstGeom>
          <a:solidFill>
            <a:srgbClr val="21295C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PRINCIPLE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92040" y="4389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decides which tool is needed — but authorization and execution remain outside the LLM.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892040" y="516636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cannot trigger get_all_employee_salary() simply because the model generated that tool call. Every action passes through a permissions layer independent of model output.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52928" y="155448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8648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6048" y="18288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155448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2936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0336" y="18288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61504" y="155448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7224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64624" y="18288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65792" y="155448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11512" y="15544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88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063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52928" y="278892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98648" y="2788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3063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57216" y="278892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2936" y="2788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60336" y="3063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61504" y="278892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7224" y="2788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80192" y="2487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triggered automatically when monitoring detects data or performance drift.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969264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89204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64208" y="4892040"/>
            <a:ext cx="1069848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35" name="Text 33"/>
          <p:cNvSpPr/>
          <p:nvPr/>
        </p:nvSpPr>
        <p:spPr>
          <a:xfrm>
            <a:off x="1664208" y="4892040"/>
            <a:ext cx="1069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892040"/>
            <a:ext cx="1572768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37" name="Text 35"/>
          <p:cNvSpPr/>
          <p:nvPr/>
        </p:nvSpPr>
        <p:spPr>
          <a:xfrm>
            <a:off x="2880360" y="489204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9432" y="4892040"/>
            <a:ext cx="1069848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39" name="Text 37"/>
          <p:cNvSpPr/>
          <p:nvPr/>
        </p:nvSpPr>
        <p:spPr>
          <a:xfrm>
            <a:off x="4599432" y="4892040"/>
            <a:ext cx="1069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15584" y="4892040"/>
            <a:ext cx="969264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41" name="Text 39"/>
          <p:cNvSpPr/>
          <p:nvPr/>
        </p:nvSpPr>
        <p:spPr>
          <a:xfrm>
            <a:off x="5815584" y="489204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31152" y="4892040"/>
            <a:ext cx="969264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43" name="Text 41"/>
          <p:cNvSpPr/>
          <p:nvPr/>
        </p:nvSpPr>
        <p:spPr>
          <a:xfrm>
            <a:off x="6931152" y="489204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46720" y="4892040"/>
            <a:ext cx="969264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489204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62288" y="4892040"/>
            <a:ext cx="1371600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47" name="Text 45"/>
          <p:cNvSpPr/>
          <p:nvPr/>
        </p:nvSpPr>
        <p:spPr>
          <a:xfrm>
            <a:off x="9162288" y="4892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394960"/>
            <a:ext cx="2075688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539496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/ Azure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70632" y="5394960"/>
            <a:ext cx="969264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51" name="Text 49"/>
          <p:cNvSpPr/>
          <p:nvPr/>
        </p:nvSpPr>
        <p:spPr>
          <a:xfrm>
            <a:off x="2770632" y="5394960"/>
            <a:ext cx="969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886200" y="5394960"/>
            <a:ext cx="1271016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53" name="Text 51"/>
          <p:cNvSpPr/>
          <p:nvPr/>
        </p:nvSpPr>
        <p:spPr>
          <a:xfrm>
            <a:off x="3886200" y="5394960"/>
            <a:ext cx="1271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303520" y="5394960"/>
            <a:ext cx="667512" cy="411480"/>
          </a:xfrm>
          <a:prstGeom prst="roundRect">
            <a:avLst>
              <a:gd name="adj" fmla="val 20000"/>
            </a:avLst>
          </a:prstGeom>
          <a:solidFill>
            <a:srgbClr val="E4EEF3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0" y="539496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50876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PR-AUC, Recall, Precision, F1, ROC-AUC, calibration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676656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039112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Precision@K, Recall@K, NDCG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6766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946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569464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Precision@K, Recall@K, NDCG, completion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676656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998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099816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evaluation, ranking metrics, outcomes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6766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301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630168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MRR/nDCG, faithfulness, correctness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6766560" cy="530352"/>
          </a:xfrm>
          <a:prstGeom prst="rect">
            <a:avLst/>
          </a:prstGeom>
          <a:solidFill>
            <a:srgbClr val="E4EEF3"/>
          </a:solidFill>
          <a:ln w="9525">
            <a:solidFill>
              <a:srgbClr val="D7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605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4160520"/>
            <a:ext cx="4160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rate, tool-call accuracy, latency, cost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1508760"/>
            <a:ext cx="4023360" cy="466344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2194560"/>
            <a:ext cx="457200" cy="457200"/>
          </a:xfrm>
          <a:prstGeom prst="ellipse">
            <a:avLst/>
          </a:prstGeom>
          <a:solidFill>
            <a:srgbClr val="1C4B3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E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5820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63840" y="2852928"/>
            <a:ext cx="457200" cy="457200"/>
          </a:xfrm>
          <a:prstGeom prst="ellipse">
            <a:avLst/>
          </a:prstGeom>
          <a:solidFill>
            <a:srgbClr val="1C4B3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E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5820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863840" y="3511296"/>
            <a:ext cx="457200" cy="457200"/>
          </a:xfrm>
          <a:prstGeom prst="ellipse">
            <a:avLst/>
          </a:prstGeom>
          <a:solidFill>
            <a:srgbClr val="4B1F1F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58200" y="35112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63840" y="4169664"/>
            <a:ext cx="457200" cy="457200"/>
          </a:xfrm>
          <a:prstGeom prst="ellipse">
            <a:avLst/>
          </a:prstGeom>
          <a:solidFill>
            <a:srgbClr val="4B1F1F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58200" y="416966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Time-to-hire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863840" y="4828032"/>
            <a:ext cx="457200" cy="457200"/>
          </a:xfrm>
          <a:prstGeom prst="ellipse">
            <a:avLst/>
          </a:prstGeom>
          <a:solidFill>
            <a:srgbClr val="4B1F1F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458200" y="48280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cost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63840" y="5486400"/>
            <a:ext cx="457200" cy="457200"/>
          </a:xfrm>
          <a:prstGeom prst="ellipse">
            <a:avLst/>
          </a:prstGeom>
          <a:solidFill>
            <a:srgbClr val="1C4B3A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E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458200" y="5486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 HR Chatbot — an Enterprise Workforce Intelligence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7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ML handles prediction, NLP and embeddings handle skill intelligence, recommendation models personalize learning, RAG handles dynamic HR knowledge, and agentic workflows orchestrate HR actions.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Time Series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Embeddings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4251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recommendation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617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4617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Rules + Graph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4983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planning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5349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5349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715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automation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5715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5715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080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6080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6080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2026-08-25T11:50:11Z</dcterms:created>
  <dcterms:modified xsi:type="dcterms:W3CDTF">2026-08-25T11:50:11Z</dcterms:modified>
</cp:coreProperties>
</file>